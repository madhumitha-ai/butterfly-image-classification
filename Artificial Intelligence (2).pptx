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Open Sauce Bold" charset="1" panose="00000800000000000000"/>
      <p:regular r:id="rId20"/>
    </p:embeddedFont>
    <p:embeddedFont>
      <p:font typeface="TT Norms Bold" charset="1" panose="02000803030000020004"/>
      <p:regular r:id="rId21"/>
    </p:embeddedFont>
    <p:embeddedFont>
      <p:font typeface="TT Norms" charset="1" panose="02000503030000020003"/>
      <p:regular r:id="rId22"/>
    </p:embeddedFont>
    <p:embeddedFont>
      <p:font typeface="TT Norms Italics" charset="1" panose="020005030300000900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56" r="0" b="-34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69053" y="5143500"/>
            <a:ext cx="9485820" cy="948582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8796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860324" y="2891331"/>
            <a:ext cx="3427689" cy="342768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8796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737328">
            <a:off x="-1454348" y="84443"/>
            <a:ext cx="7974960" cy="8421645"/>
          </a:xfrm>
          <a:custGeom>
            <a:avLst/>
            <a:gdLst/>
            <a:ahLst/>
            <a:cxnLst/>
            <a:rect r="r" b="b" t="t" l="l"/>
            <a:pathLst>
              <a:path h="8421645" w="7974960">
                <a:moveTo>
                  <a:pt x="0" y="0"/>
                </a:moveTo>
                <a:lnTo>
                  <a:pt x="7974961" y="0"/>
                </a:lnTo>
                <a:lnTo>
                  <a:pt x="7974961" y="8421646"/>
                </a:lnTo>
                <a:lnTo>
                  <a:pt x="0" y="84216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156953" y="-6040177"/>
            <a:ext cx="9485820" cy="948582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4B85">
                <a:alpha val="49804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629578" y="-114300"/>
            <a:ext cx="13414611" cy="526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64"/>
              </a:lnSpc>
            </a:pPr>
            <a:r>
              <a:rPr lang="en-US" b="true" sz="10578" spc="-846">
                <a:solidFill>
                  <a:srgbClr val="F8F3D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Butterfly Image Classification using Deep Learning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83733" y="5842931"/>
            <a:ext cx="4999713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37"/>
              </a:lnSpc>
            </a:pPr>
            <a:r>
              <a:rPr lang="en-US" sz="3614" b="tru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 S.Madhumitha</a:t>
            </a:r>
          </a:p>
          <a:p>
            <a:pPr algn="r">
              <a:lnSpc>
                <a:spcPts val="4337"/>
              </a:lnSpc>
            </a:pPr>
            <a:r>
              <a:rPr lang="en-US" sz="3614" b="tru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J.Millinda </a:t>
            </a:r>
          </a:p>
          <a:p>
            <a:pPr algn="r">
              <a:lnSpc>
                <a:spcPts val="4337"/>
              </a:lnSpc>
            </a:pPr>
            <a:r>
              <a:rPr lang="en-US" sz="3614" b="tru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W. Anne virginia </a:t>
            </a:r>
          </a:p>
          <a:p>
            <a:pPr algn="r">
              <a:lnSpc>
                <a:spcPts val="4337"/>
              </a:lnSpc>
            </a:pPr>
            <a:r>
              <a:rPr lang="en-US" sz="3614" b="tru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A.Aarthi</a:t>
            </a:r>
          </a:p>
          <a:p>
            <a:pPr algn="l">
              <a:lnSpc>
                <a:spcPts val="4337"/>
              </a:lnSpc>
            </a:pPr>
            <a:r>
              <a:rPr lang="en-US" sz="3614" b="tru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.                           K.Karunya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31230" y="5404781"/>
            <a:ext cx="370471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76"/>
              </a:lnSpc>
            </a:pPr>
            <a:r>
              <a:rPr lang="en-US" sz="2897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Presented by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6360" y="8980265"/>
            <a:ext cx="1690670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79"/>
              </a:lnSpc>
            </a:pPr>
            <a:r>
              <a:rPr lang="en-US" sz="5199" i="true">
                <a:solidFill>
                  <a:srgbClr val="F8F3DD"/>
                </a:solidFill>
                <a:latin typeface="TT Norms Italics"/>
                <a:ea typeface="TT Norms Italics"/>
                <a:cs typeface="TT Norms Italics"/>
                <a:sym typeface="TT Norms Italics"/>
              </a:rPr>
              <a:t>Project Domain: Artificial Intelligence / Computer Vision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629578" y="2377076"/>
            <a:ext cx="749061" cy="749061"/>
          </a:xfrm>
          <a:custGeom>
            <a:avLst/>
            <a:gdLst/>
            <a:ahLst/>
            <a:cxnLst/>
            <a:rect r="r" b="b" t="t" l="l"/>
            <a:pathLst>
              <a:path h="749061" w="749061">
                <a:moveTo>
                  <a:pt x="0" y="0"/>
                </a:moveTo>
                <a:lnTo>
                  <a:pt x="749061" y="0"/>
                </a:lnTo>
                <a:lnTo>
                  <a:pt x="749061" y="749060"/>
                </a:lnTo>
                <a:lnTo>
                  <a:pt x="0" y="7490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93530" y="806345"/>
            <a:ext cx="444711" cy="444711"/>
          </a:xfrm>
          <a:custGeom>
            <a:avLst/>
            <a:gdLst/>
            <a:ahLst/>
            <a:cxnLst/>
            <a:rect r="r" b="b" t="t" l="l"/>
            <a:pathLst>
              <a:path h="444711" w="444711">
                <a:moveTo>
                  <a:pt x="0" y="0"/>
                </a:moveTo>
                <a:lnTo>
                  <a:pt x="444711" y="0"/>
                </a:lnTo>
                <a:lnTo>
                  <a:pt x="444711" y="444710"/>
                </a:lnTo>
                <a:lnTo>
                  <a:pt x="0" y="4447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56" r="0" b="-34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66447" y="-2997182"/>
            <a:ext cx="5557824" cy="55578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8796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773480" y="6363508"/>
            <a:ext cx="9485820" cy="948582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4B85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9782270"/>
            <a:ext cx="18288000" cy="1009460"/>
            <a:chOff x="0" y="0"/>
            <a:chExt cx="3762963" cy="2077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-504730"/>
            <a:ext cx="18288000" cy="1009460"/>
            <a:chOff x="0" y="0"/>
            <a:chExt cx="3762963" cy="2077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699289" y="3653331"/>
            <a:ext cx="444711" cy="444711"/>
          </a:xfrm>
          <a:custGeom>
            <a:avLst/>
            <a:gdLst/>
            <a:ahLst/>
            <a:cxnLst/>
            <a:rect r="r" b="b" t="t" l="l"/>
            <a:pathLst>
              <a:path h="444711" w="444711">
                <a:moveTo>
                  <a:pt x="0" y="0"/>
                </a:moveTo>
                <a:lnTo>
                  <a:pt x="444711" y="0"/>
                </a:lnTo>
                <a:lnTo>
                  <a:pt x="444711" y="444711"/>
                </a:lnTo>
                <a:lnTo>
                  <a:pt x="0" y="4447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539943" y="6164221"/>
            <a:ext cx="547306" cy="547306"/>
          </a:xfrm>
          <a:custGeom>
            <a:avLst/>
            <a:gdLst/>
            <a:ahLst/>
            <a:cxnLst/>
            <a:rect r="r" b="b" t="t" l="l"/>
            <a:pathLst>
              <a:path h="547306" w="547306">
                <a:moveTo>
                  <a:pt x="0" y="0"/>
                </a:moveTo>
                <a:lnTo>
                  <a:pt x="547306" y="0"/>
                </a:lnTo>
                <a:lnTo>
                  <a:pt x="547306" y="547306"/>
                </a:lnTo>
                <a:lnTo>
                  <a:pt x="0" y="5473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655046" y="757227"/>
            <a:ext cx="7632954" cy="8229600"/>
          </a:xfrm>
          <a:custGeom>
            <a:avLst/>
            <a:gdLst/>
            <a:ahLst/>
            <a:cxnLst/>
            <a:rect r="r" b="b" t="t" l="l"/>
            <a:pathLst>
              <a:path h="8229600" w="7632954">
                <a:moveTo>
                  <a:pt x="0" y="0"/>
                </a:moveTo>
                <a:lnTo>
                  <a:pt x="7632954" y="0"/>
                </a:lnTo>
                <a:lnTo>
                  <a:pt x="763295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-706385" y="757227"/>
            <a:ext cx="12430656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40"/>
              </a:lnSpc>
            </a:pPr>
            <a:r>
              <a:rPr lang="en-US" b="true" sz="7700" spc="-616">
                <a:solidFill>
                  <a:srgbClr val="F8F3D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5096" y="2761470"/>
            <a:ext cx="9927693" cy="6724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1291" indent="-390646" lvl="1">
              <a:lnSpc>
                <a:spcPts val="5391"/>
              </a:lnSpc>
              <a:buFont typeface="Arial"/>
              <a:buChar char="•"/>
            </a:pPr>
            <a:r>
              <a:rPr lang="en-US" sz="3618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Butterflies have many different species and identifying them manually is difficult.</a:t>
            </a:r>
          </a:p>
          <a:p>
            <a:pPr algn="l">
              <a:lnSpc>
                <a:spcPts val="5391"/>
              </a:lnSpc>
            </a:pPr>
            <a:r>
              <a:rPr lang="en-US" sz="3618" b="tru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Problems include:</a:t>
            </a:r>
          </a:p>
          <a:p>
            <a:pPr algn="l" marL="781291" indent="-390646" lvl="1">
              <a:lnSpc>
                <a:spcPts val="5391"/>
              </a:lnSpc>
              <a:buFont typeface="Arial"/>
              <a:buChar char="•"/>
            </a:pPr>
            <a:r>
              <a:rPr lang="en-US" sz="3618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Many butterfly species look similar</a:t>
            </a:r>
          </a:p>
          <a:p>
            <a:pPr algn="l" marL="781291" indent="-390646" lvl="1">
              <a:lnSpc>
                <a:spcPts val="5391"/>
              </a:lnSpc>
              <a:buFont typeface="Arial"/>
              <a:buChar char="•"/>
            </a:pPr>
            <a:r>
              <a:rPr lang="en-US" sz="3618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Requires expert knowledge to classify</a:t>
            </a:r>
          </a:p>
          <a:p>
            <a:pPr algn="l" marL="781291" indent="-390646" lvl="1">
              <a:lnSpc>
                <a:spcPts val="5391"/>
              </a:lnSpc>
              <a:buFont typeface="Arial"/>
              <a:buChar char="•"/>
            </a:pPr>
            <a:r>
              <a:rPr lang="en-US" sz="3618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Manual classification takes time</a:t>
            </a:r>
          </a:p>
          <a:p>
            <a:pPr algn="l">
              <a:lnSpc>
                <a:spcPts val="5391"/>
              </a:lnSpc>
            </a:pPr>
            <a:r>
              <a:rPr lang="en-US" sz="3618" b="tru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Solution:</a:t>
            </a:r>
          </a:p>
          <a:p>
            <a:pPr algn="l" marL="781291" indent="-390646" lvl="1">
              <a:lnSpc>
                <a:spcPts val="5391"/>
              </a:lnSpc>
              <a:buFont typeface="Arial"/>
              <a:buChar char="•"/>
            </a:pPr>
            <a:r>
              <a:rPr lang="en-US" sz="3618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Use image classification with deep learning to automatically identify butterfly species from images.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56" r="0" b="-34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50212" y="-1750212"/>
            <a:ext cx="5557824" cy="55578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8796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13077" y="6363508"/>
            <a:ext cx="9485820" cy="948582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4B85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9782270"/>
            <a:ext cx="18288000" cy="1009460"/>
            <a:chOff x="0" y="0"/>
            <a:chExt cx="3762963" cy="2077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-504730"/>
            <a:ext cx="18288000" cy="1009460"/>
            <a:chOff x="0" y="0"/>
            <a:chExt cx="3762963" cy="2077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525696" y="957217"/>
            <a:ext cx="11762304" cy="93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77"/>
              </a:lnSpc>
            </a:pPr>
            <a:r>
              <a:rPr lang="en-US" b="true" sz="7641">
                <a:solidFill>
                  <a:srgbClr val="F8F3D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 of the Project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5696" y="3098571"/>
            <a:ext cx="11580952" cy="615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b="true" sz="3645" spc="185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THE MAIN OBJECTIVES OF THIS PROJECT ARE:</a:t>
            </a:r>
          </a:p>
          <a:p>
            <a:pPr algn="l" marL="786970" indent="-393485" lvl="1">
              <a:lnSpc>
                <a:spcPts val="4374"/>
              </a:lnSpc>
              <a:buFont typeface="Arial"/>
              <a:buChar char="•"/>
            </a:pPr>
            <a:r>
              <a:rPr lang="en-US" sz="3645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To develop a butterfly image classification system</a:t>
            </a:r>
          </a:p>
          <a:p>
            <a:pPr algn="l" marL="786970" indent="-393485" lvl="1">
              <a:lnSpc>
                <a:spcPts val="4374"/>
              </a:lnSpc>
              <a:buFont typeface="Arial"/>
              <a:buChar char="•"/>
            </a:pPr>
            <a:r>
              <a:rPr lang="en-US" sz="3645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To train a deep learning model using CNN</a:t>
            </a:r>
          </a:p>
          <a:p>
            <a:pPr algn="l" marL="786970" indent="-393485" lvl="1">
              <a:lnSpc>
                <a:spcPts val="4374"/>
              </a:lnSpc>
              <a:buFont typeface="Arial"/>
              <a:buChar char="•"/>
            </a:pPr>
            <a:r>
              <a:rPr lang="en-US" sz="3645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To automatically detect butterfly species</a:t>
            </a:r>
          </a:p>
          <a:p>
            <a:pPr algn="l" marL="786970" indent="-393485" lvl="1">
              <a:lnSpc>
                <a:spcPts val="4374"/>
              </a:lnSpc>
              <a:buFont typeface="Arial"/>
              <a:buChar char="•"/>
            </a:pPr>
            <a:r>
              <a:rPr lang="en-US" sz="3645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To improve classification accuracy using image datasets</a:t>
            </a:r>
          </a:p>
        </p:txBody>
      </p:sp>
      <p:sp>
        <p:nvSpPr>
          <p:cNvPr name="Freeform 17" id="17"/>
          <p:cNvSpPr/>
          <p:nvPr/>
        </p:nvSpPr>
        <p:spPr>
          <a:xfrm flipH="true" flipV="false" rot="0">
            <a:off x="-478334" y="1028700"/>
            <a:ext cx="7366732" cy="8229600"/>
          </a:xfrm>
          <a:custGeom>
            <a:avLst/>
            <a:gdLst/>
            <a:ahLst/>
            <a:cxnLst/>
            <a:rect r="r" b="b" t="t" l="l"/>
            <a:pathLst>
              <a:path h="8229600" w="7366732">
                <a:moveTo>
                  <a:pt x="7366733" y="0"/>
                </a:moveTo>
                <a:lnTo>
                  <a:pt x="0" y="0"/>
                </a:lnTo>
                <a:lnTo>
                  <a:pt x="0" y="8229600"/>
                </a:lnTo>
                <a:lnTo>
                  <a:pt x="7366733" y="8229600"/>
                </a:lnTo>
                <a:lnTo>
                  <a:pt x="736673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608831" y="2668714"/>
            <a:ext cx="573213" cy="573213"/>
          </a:xfrm>
          <a:custGeom>
            <a:avLst/>
            <a:gdLst/>
            <a:ahLst/>
            <a:cxnLst/>
            <a:rect r="r" b="b" t="t" l="l"/>
            <a:pathLst>
              <a:path h="573213" w="573213">
                <a:moveTo>
                  <a:pt x="0" y="0"/>
                </a:moveTo>
                <a:lnTo>
                  <a:pt x="573214" y="0"/>
                </a:lnTo>
                <a:lnTo>
                  <a:pt x="573214" y="573213"/>
                </a:lnTo>
                <a:lnTo>
                  <a:pt x="0" y="5732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031804" y="2095500"/>
            <a:ext cx="1146426" cy="1146426"/>
          </a:xfrm>
          <a:custGeom>
            <a:avLst/>
            <a:gdLst/>
            <a:ahLst/>
            <a:cxnLst/>
            <a:rect r="r" b="b" t="t" l="l"/>
            <a:pathLst>
              <a:path h="1146426" w="1146426">
                <a:moveTo>
                  <a:pt x="0" y="0"/>
                </a:moveTo>
                <a:lnTo>
                  <a:pt x="1146426" y="0"/>
                </a:lnTo>
                <a:lnTo>
                  <a:pt x="1146426" y="1146427"/>
                </a:lnTo>
                <a:lnTo>
                  <a:pt x="0" y="11464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42093" y="1522287"/>
            <a:ext cx="439968" cy="439968"/>
          </a:xfrm>
          <a:custGeom>
            <a:avLst/>
            <a:gdLst/>
            <a:ahLst/>
            <a:cxnLst/>
            <a:rect r="r" b="b" t="t" l="l"/>
            <a:pathLst>
              <a:path h="439968" w="439968">
                <a:moveTo>
                  <a:pt x="0" y="0"/>
                </a:moveTo>
                <a:lnTo>
                  <a:pt x="439968" y="0"/>
                </a:lnTo>
                <a:lnTo>
                  <a:pt x="439968" y="439968"/>
                </a:lnTo>
                <a:lnTo>
                  <a:pt x="0" y="4399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56" r="0" b="-34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08847" y="-1686841"/>
            <a:ext cx="5557824" cy="55578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8796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551241" y="5544090"/>
            <a:ext cx="9485820" cy="948582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4B85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9782270"/>
            <a:ext cx="18288000" cy="1009460"/>
            <a:chOff x="0" y="0"/>
            <a:chExt cx="3762963" cy="2077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-504730"/>
            <a:ext cx="18288000" cy="1009460"/>
            <a:chOff x="0" y="0"/>
            <a:chExt cx="3762963" cy="2077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737615" y="1292340"/>
            <a:ext cx="444711" cy="444711"/>
          </a:xfrm>
          <a:custGeom>
            <a:avLst/>
            <a:gdLst/>
            <a:ahLst/>
            <a:cxnLst/>
            <a:rect r="r" b="b" t="t" l="l"/>
            <a:pathLst>
              <a:path h="444711" w="444711">
                <a:moveTo>
                  <a:pt x="0" y="0"/>
                </a:moveTo>
                <a:lnTo>
                  <a:pt x="444711" y="0"/>
                </a:lnTo>
                <a:lnTo>
                  <a:pt x="444711" y="444711"/>
                </a:lnTo>
                <a:lnTo>
                  <a:pt x="0" y="4447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985647" y="3870983"/>
            <a:ext cx="547306" cy="547306"/>
          </a:xfrm>
          <a:custGeom>
            <a:avLst/>
            <a:gdLst/>
            <a:ahLst/>
            <a:cxnLst/>
            <a:rect r="r" b="b" t="t" l="l"/>
            <a:pathLst>
              <a:path h="547306" w="547306">
                <a:moveTo>
                  <a:pt x="0" y="0"/>
                </a:moveTo>
                <a:lnTo>
                  <a:pt x="547306" y="0"/>
                </a:lnTo>
                <a:lnTo>
                  <a:pt x="547306" y="547306"/>
                </a:lnTo>
                <a:lnTo>
                  <a:pt x="0" y="5473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177748" y="1092071"/>
            <a:ext cx="7355205" cy="8229600"/>
          </a:xfrm>
          <a:custGeom>
            <a:avLst/>
            <a:gdLst/>
            <a:ahLst/>
            <a:cxnLst/>
            <a:rect r="r" b="b" t="t" l="l"/>
            <a:pathLst>
              <a:path h="8229600" w="7355205">
                <a:moveTo>
                  <a:pt x="0" y="0"/>
                </a:moveTo>
                <a:lnTo>
                  <a:pt x="7355205" y="0"/>
                </a:lnTo>
                <a:lnTo>
                  <a:pt x="735520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99431" y="1178543"/>
            <a:ext cx="8744569" cy="1840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20"/>
              </a:lnSpc>
            </a:pPr>
            <a:r>
              <a:rPr lang="en-US" b="true" sz="7800" spc="-624">
                <a:solidFill>
                  <a:srgbClr val="F8F3D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Methodology  </a:t>
            </a:r>
          </a:p>
          <a:p>
            <a:pPr algn="just" marL="0" indent="0" lvl="0">
              <a:lnSpc>
                <a:spcPts val="7020"/>
              </a:lnSpc>
            </a:pPr>
            <a:r>
              <a:rPr lang="en-US" b="true" sz="7800" spc="-624">
                <a:solidFill>
                  <a:srgbClr val="F8F3D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 (How)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7946" y="3330644"/>
            <a:ext cx="9822917" cy="636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2"/>
              </a:lnSpc>
            </a:pPr>
            <a:r>
              <a:rPr lang="en-US" sz="3217" spc="193" b="tru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  Steps followed in this project:</a:t>
            </a:r>
          </a:p>
          <a:p>
            <a:pPr algn="l" marL="673077" indent="-336538" lvl="1">
              <a:lnSpc>
                <a:spcPts val="5050"/>
              </a:lnSpc>
              <a:buFont typeface="Arial"/>
              <a:buChar char="•"/>
            </a:pPr>
            <a:r>
              <a:rPr lang="en-US" sz="3117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Dataset collection</a:t>
            </a:r>
          </a:p>
          <a:p>
            <a:pPr algn="l" marL="673077" indent="-336538" lvl="1">
              <a:lnSpc>
                <a:spcPts val="5050"/>
              </a:lnSpc>
              <a:buFont typeface="Arial"/>
              <a:buChar char="•"/>
            </a:pPr>
            <a:r>
              <a:rPr lang="en-US" sz="3117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Data preprocessing</a:t>
            </a:r>
          </a:p>
          <a:p>
            <a:pPr algn="l" marL="673077" indent="-336538" lvl="1">
              <a:lnSpc>
                <a:spcPts val="5050"/>
              </a:lnSpc>
              <a:buFont typeface="Arial"/>
              <a:buChar char="•"/>
            </a:pPr>
            <a:r>
              <a:rPr lang="en-US" sz="3117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Image resizing and normalization</a:t>
            </a:r>
          </a:p>
          <a:p>
            <a:pPr algn="l" marL="673077" indent="-336538" lvl="1">
              <a:lnSpc>
                <a:spcPts val="5050"/>
              </a:lnSpc>
              <a:buFont typeface="Arial"/>
              <a:buChar char="•"/>
            </a:pPr>
            <a:r>
              <a:rPr lang="en-US" sz="3117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Model building using CNN</a:t>
            </a:r>
          </a:p>
          <a:p>
            <a:pPr algn="l" marL="673077" indent="-336538" lvl="1">
              <a:lnSpc>
                <a:spcPts val="5050"/>
              </a:lnSpc>
              <a:buFont typeface="Arial"/>
              <a:buChar char="•"/>
            </a:pPr>
            <a:r>
              <a:rPr lang="en-US" sz="3117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Model training</a:t>
            </a:r>
          </a:p>
          <a:p>
            <a:pPr algn="l" marL="673077" indent="-336538" lvl="1">
              <a:lnSpc>
                <a:spcPts val="5050"/>
              </a:lnSpc>
              <a:buFont typeface="Arial"/>
              <a:buChar char="•"/>
            </a:pPr>
            <a:r>
              <a:rPr lang="en-US" sz="3117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Model evaluation</a:t>
            </a:r>
          </a:p>
          <a:p>
            <a:pPr algn="l" marL="673077" indent="-336538" lvl="1">
              <a:lnSpc>
                <a:spcPts val="5050"/>
              </a:lnSpc>
              <a:buFont typeface="Arial"/>
              <a:buChar char="•"/>
            </a:pPr>
            <a:r>
              <a:rPr lang="en-US" sz="3117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Image prediction</a:t>
            </a:r>
          </a:p>
          <a:p>
            <a:pPr algn="l">
              <a:lnSpc>
                <a:spcPts val="5050"/>
              </a:lnSpc>
            </a:pPr>
            <a:r>
              <a:rPr lang="en-US" sz="3117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This workflow helps the system learn butterfly features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56" r="0" b="-34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09088" y="-2463741"/>
            <a:ext cx="5557824" cy="55578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8796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341820" y="5655038"/>
            <a:ext cx="9485820" cy="948582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4B85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61497" y="836655"/>
            <a:ext cx="7974960" cy="8421645"/>
          </a:xfrm>
          <a:custGeom>
            <a:avLst/>
            <a:gdLst/>
            <a:ahLst/>
            <a:cxnLst/>
            <a:rect r="r" b="b" t="t" l="l"/>
            <a:pathLst>
              <a:path h="8421645" w="7974960">
                <a:moveTo>
                  <a:pt x="0" y="0"/>
                </a:moveTo>
                <a:lnTo>
                  <a:pt x="7974960" y="0"/>
                </a:lnTo>
                <a:lnTo>
                  <a:pt x="7974960" y="8421645"/>
                </a:lnTo>
                <a:lnTo>
                  <a:pt x="0" y="842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0" y="9782270"/>
            <a:ext cx="18288000" cy="1009460"/>
            <a:chOff x="0" y="0"/>
            <a:chExt cx="3762963" cy="2077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-504730"/>
            <a:ext cx="18288000" cy="1009460"/>
            <a:chOff x="0" y="0"/>
            <a:chExt cx="3762963" cy="2077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546274" y="1987851"/>
            <a:ext cx="444711" cy="444711"/>
          </a:xfrm>
          <a:custGeom>
            <a:avLst/>
            <a:gdLst/>
            <a:ahLst/>
            <a:cxnLst/>
            <a:rect r="r" b="b" t="t" l="l"/>
            <a:pathLst>
              <a:path h="444711" w="444711">
                <a:moveTo>
                  <a:pt x="0" y="0"/>
                </a:moveTo>
                <a:lnTo>
                  <a:pt x="444710" y="0"/>
                </a:lnTo>
                <a:lnTo>
                  <a:pt x="444710" y="444711"/>
                </a:lnTo>
                <a:lnTo>
                  <a:pt x="0" y="4447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949502" y="981075"/>
            <a:ext cx="9754508" cy="1382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99"/>
              </a:lnSpc>
            </a:pPr>
            <a:r>
              <a:rPr lang="en-US" b="true" sz="8799" spc="-703">
                <a:solidFill>
                  <a:srgbClr val="F8F3D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System   Flowchart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96412" y="3094083"/>
            <a:ext cx="547306" cy="547306"/>
          </a:xfrm>
          <a:custGeom>
            <a:avLst/>
            <a:gdLst/>
            <a:ahLst/>
            <a:cxnLst/>
            <a:rect r="r" b="b" t="t" l="l"/>
            <a:pathLst>
              <a:path h="547306" w="547306">
                <a:moveTo>
                  <a:pt x="0" y="0"/>
                </a:moveTo>
                <a:lnTo>
                  <a:pt x="547306" y="0"/>
                </a:lnTo>
                <a:lnTo>
                  <a:pt x="547306" y="547306"/>
                </a:lnTo>
                <a:lnTo>
                  <a:pt x="0" y="547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558924" y="3024836"/>
            <a:ext cx="10051543" cy="565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43"/>
              </a:lnSpc>
            </a:pPr>
            <a:r>
              <a:rPr lang="en-US" sz="3352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Input Image →</a:t>
            </a:r>
            <a:r>
              <a:rPr lang="en-US" sz="3352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Image Preprocessing →</a:t>
            </a:r>
          </a:p>
          <a:p>
            <a:pPr algn="just">
              <a:lnSpc>
                <a:spcPts val="7643"/>
              </a:lnSpc>
            </a:pPr>
            <a:r>
              <a:rPr lang="en-US" sz="3352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Feature Extraction (CNN) →Model Training →</a:t>
            </a:r>
          </a:p>
          <a:p>
            <a:pPr algn="just">
              <a:lnSpc>
                <a:spcPts val="7643"/>
              </a:lnSpc>
            </a:pPr>
            <a:r>
              <a:rPr lang="en-US" sz="3352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Prediction →Butterfly Species Classification</a:t>
            </a:r>
          </a:p>
          <a:p>
            <a:pPr algn="just">
              <a:lnSpc>
                <a:spcPts val="7643"/>
              </a:lnSpc>
            </a:pPr>
          </a:p>
          <a:p>
            <a:pPr algn="l" marL="723742" indent="-361871" lvl="1">
              <a:lnSpc>
                <a:spcPts val="7643"/>
              </a:lnSpc>
              <a:buFont typeface="Arial"/>
              <a:buChar char="•"/>
            </a:pPr>
            <a:r>
              <a:rPr lang="en-US" sz="3352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This flow explains how the model processes images and produces the output.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6979225" y="7785464"/>
            <a:ext cx="724785" cy="724785"/>
          </a:xfrm>
          <a:custGeom>
            <a:avLst/>
            <a:gdLst/>
            <a:ahLst/>
            <a:cxnLst/>
            <a:rect r="r" b="b" t="t" l="l"/>
            <a:pathLst>
              <a:path h="724785" w="724785">
                <a:moveTo>
                  <a:pt x="0" y="0"/>
                </a:moveTo>
                <a:lnTo>
                  <a:pt x="724786" y="0"/>
                </a:lnTo>
                <a:lnTo>
                  <a:pt x="724786" y="724786"/>
                </a:lnTo>
                <a:lnTo>
                  <a:pt x="0" y="724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56" r="0" b="-34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50212" y="-1750212"/>
            <a:ext cx="5557824" cy="55578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8796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880036" y="6561870"/>
            <a:ext cx="9485820" cy="948582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4B85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9782270"/>
            <a:ext cx="18288000" cy="1009460"/>
            <a:chOff x="0" y="0"/>
            <a:chExt cx="3762963" cy="2077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-504730"/>
            <a:ext cx="18288000" cy="1009460"/>
            <a:chOff x="0" y="0"/>
            <a:chExt cx="3762963" cy="2077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34895" y="1549611"/>
            <a:ext cx="5203663" cy="189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54"/>
              </a:lnSpc>
            </a:pPr>
            <a:r>
              <a:rPr lang="en-US" b="true" sz="7949" spc="-635">
                <a:solidFill>
                  <a:srgbClr val="F8F3D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Dataset Description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22498" y="447580"/>
            <a:ext cx="10465502" cy="9874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4677" indent="-377339" lvl="1">
              <a:lnSpc>
                <a:spcPts val="4893"/>
              </a:lnSpc>
              <a:buFont typeface="Arial"/>
              <a:buChar char="•"/>
            </a:pPr>
            <a:r>
              <a:rPr lang="en-US" sz="3495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THE DATASET USED IS A BUTTERFLY IMAGE DATASET FROM KAGGLE.</a:t>
            </a:r>
          </a:p>
          <a:p>
            <a:pPr algn="l">
              <a:lnSpc>
                <a:spcPts val="4893"/>
              </a:lnSpc>
            </a:pPr>
            <a:r>
              <a:rPr lang="en-US" sz="3495" b="tru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Dataset details:</a:t>
            </a:r>
          </a:p>
          <a:p>
            <a:pPr algn="l" marL="754677" indent="-377339" lvl="1">
              <a:lnSpc>
                <a:spcPts val="4893"/>
              </a:lnSpc>
              <a:buFont typeface="Arial"/>
              <a:buChar char="•"/>
            </a:pPr>
            <a:r>
              <a:rPr lang="en-US" sz="3495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AR</a:t>
            </a:r>
            <a:r>
              <a:rPr lang="en-US" sz="3495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ound 75 butterfly species</a:t>
            </a:r>
          </a:p>
          <a:p>
            <a:pPr algn="l" marL="754677" indent="-377339" lvl="1">
              <a:lnSpc>
                <a:spcPts val="4893"/>
              </a:lnSpc>
              <a:buFont typeface="Arial"/>
              <a:buChar char="•"/>
            </a:pPr>
            <a:r>
              <a:rPr lang="en-US" sz="3495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Images of different butterfly types</a:t>
            </a:r>
          </a:p>
          <a:p>
            <a:pPr algn="l" marL="754677" indent="-377339" lvl="1">
              <a:lnSpc>
                <a:spcPts val="4893"/>
              </a:lnSpc>
              <a:buFont typeface="Arial"/>
              <a:buChar char="•"/>
            </a:pPr>
            <a:r>
              <a:rPr lang="en-US" sz="3495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Images captured from different angles and backgrounds</a:t>
            </a:r>
          </a:p>
          <a:p>
            <a:pPr algn="l" marL="754677" indent="-377339" lvl="1">
              <a:lnSpc>
                <a:spcPts val="4893"/>
              </a:lnSpc>
              <a:buFont typeface="Arial"/>
              <a:buChar char="•"/>
            </a:pPr>
            <a:r>
              <a:rPr lang="en-US" sz="3495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Organized into training, testing, and validation sets</a:t>
            </a:r>
          </a:p>
          <a:p>
            <a:pPr algn="l">
              <a:lnSpc>
                <a:spcPts val="4893"/>
              </a:lnSpc>
            </a:pPr>
            <a:r>
              <a:rPr lang="en-US" sz="3495" b="tru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Example dataset split</a:t>
            </a:r>
            <a:r>
              <a:rPr lang="en-US" sz="3495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:</a:t>
            </a:r>
          </a:p>
          <a:p>
            <a:pPr algn="l" marL="754677" indent="-377339" lvl="1">
              <a:lnSpc>
                <a:spcPts val="4893"/>
              </a:lnSpc>
              <a:buFont typeface="Arial"/>
              <a:buChar char="•"/>
            </a:pPr>
            <a:r>
              <a:rPr lang="en-US" sz="3495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Training images: 9285</a:t>
            </a:r>
          </a:p>
          <a:p>
            <a:pPr algn="l" marL="754677" indent="-377339" lvl="1">
              <a:lnSpc>
                <a:spcPts val="4893"/>
              </a:lnSpc>
              <a:buFont typeface="Arial"/>
              <a:buChar char="•"/>
            </a:pPr>
            <a:r>
              <a:rPr lang="en-US" sz="3495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TES</a:t>
            </a:r>
            <a:r>
              <a:rPr lang="en-US" sz="3495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ting images: 375</a:t>
            </a:r>
          </a:p>
          <a:p>
            <a:pPr algn="l" marL="754677" indent="-377339" lvl="1">
              <a:lnSpc>
                <a:spcPts val="4893"/>
              </a:lnSpc>
              <a:buFont typeface="Arial"/>
              <a:buChar char="•"/>
            </a:pPr>
            <a:r>
              <a:rPr lang="en-US" sz="3495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VALIDA</a:t>
            </a:r>
            <a:r>
              <a:rPr lang="en-US" sz="3495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tion images: 375</a:t>
            </a:r>
          </a:p>
          <a:p>
            <a:pPr algn="l">
              <a:lnSpc>
                <a:spcPts val="4893"/>
              </a:lnSpc>
            </a:pPr>
            <a:r>
              <a:rPr lang="en-US" sz="3495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Images are usually resized to 224×224 pixels for model training. </a:t>
            </a:r>
          </a:p>
          <a:p>
            <a:pPr algn="l">
              <a:lnSpc>
                <a:spcPts val="4893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992743" y="2144615"/>
            <a:ext cx="843841" cy="843841"/>
          </a:xfrm>
          <a:custGeom>
            <a:avLst/>
            <a:gdLst/>
            <a:ahLst/>
            <a:cxnLst/>
            <a:rect r="r" b="b" t="t" l="l"/>
            <a:pathLst>
              <a:path h="843841" w="843841">
                <a:moveTo>
                  <a:pt x="0" y="0"/>
                </a:moveTo>
                <a:lnTo>
                  <a:pt x="843841" y="0"/>
                </a:lnTo>
                <a:lnTo>
                  <a:pt x="843841" y="843841"/>
                </a:lnTo>
                <a:lnTo>
                  <a:pt x="0" y="8438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12539" y="876300"/>
            <a:ext cx="444711" cy="444711"/>
          </a:xfrm>
          <a:custGeom>
            <a:avLst/>
            <a:gdLst/>
            <a:ahLst/>
            <a:cxnLst/>
            <a:rect r="r" b="b" t="t" l="l"/>
            <a:pathLst>
              <a:path h="444711" w="444711">
                <a:moveTo>
                  <a:pt x="0" y="0"/>
                </a:moveTo>
                <a:lnTo>
                  <a:pt x="444711" y="0"/>
                </a:lnTo>
                <a:lnTo>
                  <a:pt x="444711" y="444711"/>
                </a:lnTo>
                <a:lnTo>
                  <a:pt x="0" y="4447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31340" y="4076701"/>
            <a:ext cx="6705244" cy="7589157"/>
          </a:xfrm>
          <a:custGeom>
            <a:avLst/>
            <a:gdLst/>
            <a:ahLst/>
            <a:cxnLst/>
            <a:rect r="r" b="b" t="t" l="l"/>
            <a:pathLst>
              <a:path h="7589157" w="6705244">
                <a:moveTo>
                  <a:pt x="6705244" y="0"/>
                </a:moveTo>
                <a:lnTo>
                  <a:pt x="0" y="0"/>
                </a:lnTo>
                <a:lnTo>
                  <a:pt x="0" y="7589157"/>
                </a:lnTo>
                <a:lnTo>
                  <a:pt x="6705244" y="7589157"/>
                </a:lnTo>
                <a:lnTo>
                  <a:pt x="670524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56" r="0" b="-34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730176" y="-1384716"/>
            <a:ext cx="5557824" cy="55578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8796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341820" y="4515390"/>
            <a:ext cx="9485820" cy="948582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4B85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9782270"/>
            <a:ext cx="18288000" cy="1009460"/>
            <a:chOff x="0" y="0"/>
            <a:chExt cx="3762963" cy="2077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-504730"/>
            <a:ext cx="18288000" cy="1009460"/>
            <a:chOff x="0" y="0"/>
            <a:chExt cx="3762963" cy="2077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666464" y="1006335"/>
            <a:ext cx="14419417" cy="1045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6"/>
              </a:lnSpc>
            </a:pPr>
            <a:r>
              <a:rPr lang="en-US" b="true" sz="8374" spc="-669">
                <a:solidFill>
                  <a:srgbClr val="F8F3D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Insights &amp;Visualization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6971449" y="3231910"/>
            <a:ext cx="575701" cy="575701"/>
          </a:xfrm>
          <a:custGeom>
            <a:avLst/>
            <a:gdLst/>
            <a:ahLst/>
            <a:cxnLst/>
            <a:rect r="r" b="b" t="t" l="l"/>
            <a:pathLst>
              <a:path h="575701" w="575701">
                <a:moveTo>
                  <a:pt x="0" y="0"/>
                </a:moveTo>
                <a:lnTo>
                  <a:pt x="575702" y="0"/>
                </a:lnTo>
                <a:lnTo>
                  <a:pt x="575702" y="575702"/>
                </a:lnTo>
                <a:lnTo>
                  <a:pt x="0" y="575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847243" y="2280558"/>
            <a:ext cx="724785" cy="724785"/>
          </a:xfrm>
          <a:custGeom>
            <a:avLst/>
            <a:gdLst/>
            <a:ahLst/>
            <a:cxnLst/>
            <a:rect r="r" b="b" t="t" l="l"/>
            <a:pathLst>
              <a:path h="724785" w="724785">
                <a:moveTo>
                  <a:pt x="0" y="0"/>
                </a:moveTo>
                <a:lnTo>
                  <a:pt x="724785" y="0"/>
                </a:lnTo>
                <a:lnTo>
                  <a:pt x="724785" y="724785"/>
                </a:lnTo>
                <a:lnTo>
                  <a:pt x="0" y="724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-1524109" y="865143"/>
            <a:ext cx="9408289" cy="8393157"/>
          </a:xfrm>
          <a:custGeom>
            <a:avLst/>
            <a:gdLst/>
            <a:ahLst/>
            <a:cxnLst/>
            <a:rect r="r" b="b" t="t" l="l"/>
            <a:pathLst>
              <a:path h="8393157" w="9408289">
                <a:moveTo>
                  <a:pt x="9408289" y="0"/>
                </a:moveTo>
                <a:lnTo>
                  <a:pt x="0" y="0"/>
                </a:lnTo>
                <a:lnTo>
                  <a:pt x="0" y="8393157"/>
                </a:lnTo>
                <a:lnTo>
                  <a:pt x="9408289" y="8393157"/>
                </a:lnTo>
                <a:lnTo>
                  <a:pt x="940828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28700" y="7413657"/>
            <a:ext cx="547306" cy="547306"/>
          </a:xfrm>
          <a:custGeom>
            <a:avLst/>
            <a:gdLst/>
            <a:ahLst/>
            <a:cxnLst/>
            <a:rect r="r" b="b" t="t" l="l"/>
            <a:pathLst>
              <a:path h="547306" w="547306">
                <a:moveTo>
                  <a:pt x="0" y="0"/>
                </a:moveTo>
                <a:lnTo>
                  <a:pt x="547306" y="0"/>
                </a:lnTo>
                <a:lnTo>
                  <a:pt x="547306" y="547306"/>
                </a:lnTo>
                <a:lnTo>
                  <a:pt x="0" y="5473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572028" y="3812733"/>
            <a:ext cx="11791634" cy="589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3285" indent="-391642" lvl="1">
              <a:lnSpc>
                <a:spcPts val="5079"/>
              </a:lnSpc>
              <a:buFont typeface="Arial"/>
              <a:buChar char="•"/>
            </a:pPr>
            <a:r>
              <a:rPr lang="en-US" sz="3627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Data visualization helps understand the dataset.</a:t>
            </a:r>
          </a:p>
          <a:p>
            <a:pPr algn="l">
              <a:lnSpc>
                <a:spcPts val="5079"/>
              </a:lnSpc>
            </a:pPr>
            <a:r>
              <a:rPr lang="en-US" sz="3627" b="tru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Insights include:</a:t>
            </a:r>
          </a:p>
          <a:p>
            <a:pPr algn="l" marL="783285" indent="-391642" lvl="1">
              <a:lnSpc>
                <a:spcPts val="5079"/>
              </a:lnSpc>
              <a:buFont typeface="Arial"/>
              <a:buChar char="•"/>
            </a:pPr>
            <a:r>
              <a:rPr lang="en-US" sz="3627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Number of butterfly classes</a:t>
            </a:r>
          </a:p>
          <a:p>
            <a:pPr algn="l" marL="783285" indent="-391642" lvl="1">
              <a:lnSpc>
                <a:spcPts val="5079"/>
              </a:lnSpc>
              <a:buFont typeface="Arial"/>
              <a:buChar char="•"/>
            </a:pPr>
            <a:r>
              <a:rPr lang="en-US" sz="3627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Distribution of images across categories</a:t>
            </a:r>
          </a:p>
          <a:p>
            <a:pPr algn="l" marL="783285" indent="-391642" lvl="1">
              <a:lnSpc>
                <a:spcPts val="5079"/>
              </a:lnSpc>
              <a:buFont typeface="Arial"/>
              <a:buChar char="•"/>
            </a:pPr>
            <a:r>
              <a:rPr lang="en-US" sz="3627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Sample images from dataset</a:t>
            </a:r>
          </a:p>
          <a:p>
            <a:pPr algn="l">
              <a:lnSpc>
                <a:spcPts val="5079"/>
              </a:lnSpc>
            </a:pPr>
            <a:r>
              <a:rPr lang="en-US" sz="3627" b="tru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Visualization tools used:</a:t>
            </a:r>
          </a:p>
          <a:p>
            <a:pPr algn="l" marL="783285" indent="-391642" lvl="1">
              <a:lnSpc>
                <a:spcPts val="5079"/>
              </a:lnSpc>
              <a:buFont typeface="Arial"/>
              <a:buChar char="•"/>
            </a:pPr>
            <a:r>
              <a:rPr lang="en-US" sz="3627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Matplotlib</a:t>
            </a:r>
          </a:p>
          <a:p>
            <a:pPr algn="l" marL="783285" indent="-391642" lvl="1">
              <a:lnSpc>
                <a:spcPts val="5079"/>
              </a:lnSpc>
              <a:buFont typeface="Arial"/>
              <a:buChar char="•"/>
            </a:pPr>
            <a:r>
              <a:rPr lang="en-US" sz="3627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Image display plots</a:t>
            </a:r>
          </a:p>
          <a:p>
            <a:pPr algn="l">
              <a:lnSpc>
                <a:spcPts val="7800"/>
              </a:lnSpc>
            </a:pPr>
            <a:r>
              <a:rPr lang="en-US" sz="3627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These help analyze dataset quality before training.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56" r="0" b="-34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04018" y="-2274182"/>
            <a:ext cx="5557824" cy="55578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8796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124" y="7001769"/>
            <a:ext cx="9485820" cy="948582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4B85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9782270"/>
            <a:ext cx="18288000" cy="1009460"/>
            <a:chOff x="0" y="0"/>
            <a:chExt cx="3762963" cy="2077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-504730"/>
            <a:ext cx="18288000" cy="1009460"/>
            <a:chOff x="0" y="0"/>
            <a:chExt cx="3762963" cy="2077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266428" y="4390865"/>
            <a:ext cx="575701" cy="575701"/>
          </a:xfrm>
          <a:custGeom>
            <a:avLst/>
            <a:gdLst/>
            <a:ahLst/>
            <a:cxnLst/>
            <a:rect r="r" b="b" t="t" l="l"/>
            <a:pathLst>
              <a:path h="575701" w="575701">
                <a:moveTo>
                  <a:pt x="0" y="0"/>
                </a:moveTo>
                <a:lnTo>
                  <a:pt x="575701" y="0"/>
                </a:lnTo>
                <a:lnTo>
                  <a:pt x="575701" y="575702"/>
                </a:lnTo>
                <a:lnTo>
                  <a:pt x="0" y="575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66307" y="1475186"/>
            <a:ext cx="724785" cy="724785"/>
          </a:xfrm>
          <a:custGeom>
            <a:avLst/>
            <a:gdLst/>
            <a:ahLst/>
            <a:cxnLst/>
            <a:rect r="r" b="b" t="t" l="l"/>
            <a:pathLst>
              <a:path h="724785" w="724785">
                <a:moveTo>
                  <a:pt x="0" y="0"/>
                </a:moveTo>
                <a:lnTo>
                  <a:pt x="724786" y="0"/>
                </a:lnTo>
                <a:lnTo>
                  <a:pt x="724786" y="724785"/>
                </a:lnTo>
                <a:lnTo>
                  <a:pt x="0" y="724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616497" y="2199971"/>
            <a:ext cx="547306" cy="547306"/>
          </a:xfrm>
          <a:custGeom>
            <a:avLst/>
            <a:gdLst/>
            <a:ahLst/>
            <a:cxnLst/>
            <a:rect r="r" b="b" t="t" l="l"/>
            <a:pathLst>
              <a:path h="547306" w="547306">
                <a:moveTo>
                  <a:pt x="0" y="0"/>
                </a:moveTo>
                <a:lnTo>
                  <a:pt x="547306" y="0"/>
                </a:lnTo>
                <a:lnTo>
                  <a:pt x="547306" y="547307"/>
                </a:lnTo>
                <a:lnTo>
                  <a:pt x="0" y="547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456510" y="2658188"/>
            <a:ext cx="10414832" cy="717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6"/>
              </a:lnSpc>
            </a:pPr>
            <a:r>
              <a:rPr lang="en-US" sz="3757" b="tru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Important Python libraries used in the project:</a:t>
            </a:r>
          </a:p>
          <a:p>
            <a:pPr algn="l" marL="789569" indent="-394784" lvl="1">
              <a:lnSpc>
                <a:spcPts val="7131"/>
              </a:lnSpc>
              <a:buFont typeface="Arial"/>
              <a:buChar char="•"/>
            </a:pPr>
            <a:r>
              <a:rPr lang="en-US" sz="3657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TensorFlow / Keras Used for building and training deep learning models.</a:t>
            </a:r>
          </a:p>
          <a:p>
            <a:pPr algn="l" marL="789569" indent="-394784" lvl="1">
              <a:lnSpc>
                <a:spcPts val="7131"/>
              </a:lnSpc>
              <a:buFont typeface="Arial"/>
              <a:buChar char="•"/>
            </a:pPr>
            <a:r>
              <a:rPr lang="en-US" sz="3657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NumPy Used for numerical computations and matrix operations.</a:t>
            </a:r>
          </a:p>
          <a:p>
            <a:pPr algn="l" marL="789569" indent="-394784" lvl="1">
              <a:lnSpc>
                <a:spcPts val="7131"/>
              </a:lnSpc>
              <a:buFont typeface="Arial"/>
              <a:buChar char="•"/>
            </a:pPr>
            <a:r>
              <a:rPr lang="en-US" sz="3657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Pandas Used for dataset handling and analysis.</a:t>
            </a:r>
          </a:p>
          <a:p>
            <a:pPr algn="l">
              <a:lnSpc>
                <a:spcPts val="7180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491862" y="1837579"/>
            <a:ext cx="6124635" cy="7944691"/>
          </a:xfrm>
          <a:custGeom>
            <a:avLst/>
            <a:gdLst/>
            <a:ahLst/>
            <a:cxnLst/>
            <a:rect r="r" b="b" t="t" l="l"/>
            <a:pathLst>
              <a:path h="7944691" w="6124635">
                <a:moveTo>
                  <a:pt x="0" y="0"/>
                </a:moveTo>
                <a:lnTo>
                  <a:pt x="6124635" y="0"/>
                </a:lnTo>
                <a:lnTo>
                  <a:pt x="6124635" y="7944691"/>
                </a:lnTo>
                <a:lnTo>
                  <a:pt x="0" y="79446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619894" y="238464"/>
            <a:ext cx="9251448" cy="1236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32"/>
              </a:lnSpc>
            </a:pPr>
            <a:r>
              <a:rPr lang="en-US" b="true" sz="7600" spc="-243">
                <a:solidFill>
                  <a:srgbClr val="F8F3D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Libraries  Used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56" r="0" b="-34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09088" y="-2463741"/>
            <a:ext cx="5557824" cy="55578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8796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341820" y="5655038"/>
            <a:ext cx="9485820" cy="948582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4B85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9782270"/>
            <a:ext cx="18288000" cy="1009460"/>
            <a:chOff x="0" y="0"/>
            <a:chExt cx="3762963" cy="2077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-504730"/>
            <a:ext cx="18288000" cy="1009460"/>
            <a:chOff x="0" y="0"/>
            <a:chExt cx="3762963" cy="2077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546274" y="1987851"/>
            <a:ext cx="444711" cy="444711"/>
          </a:xfrm>
          <a:custGeom>
            <a:avLst/>
            <a:gdLst/>
            <a:ahLst/>
            <a:cxnLst/>
            <a:rect r="r" b="b" t="t" l="l"/>
            <a:pathLst>
              <a:path h="444711" w="444711">
                <a:moveTo>
                  <a:pt x="0" y="0"/>
                </a:moveTo>
                <a:lnTo>
                  <a:pt x="444710" y="0"/>
                </a:lnTo>
                <a:lnTo>
                  <a:pt x="444710" y="444711"/>
                </a:lnTo>
                <a:lnTo>
                  <a:pt x="0" y="4447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768629" y="887193"/>
            <a:ext cx="11297016" cy="93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40"/>
              </a:lnSpc>
            </a:pPr>
            <a:r>
              <a:rPr lang="en-US" b="true" sz="7600" spc="-608">
                <a:solidFill>
                  <a:srgbClr val="F8F3D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 Architecture (CNN)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36457" y="1643488"/>
            <a:ext cx="9829187" cy="8174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2999" b="tru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The model used in this project is:</a:t>
            </a:r>
          </a:p>
          <a:p>
            <a:pPr algn="l" marL="647698" indent="-323849" lvl="1">
              <a:lnSpc>
                <a:spcPts val="5459"/>
              </a:lnSpc>
              <a:buFont typeface="Arial"/>
              <a:buChar char="•"/>
            </a:pPr>
            <a:r>
              <a:rPr lang="en-US" sz="2999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Convolutional Neural Network (CNN)</a:t>
            </a:r>
          </a:p>
          <a:p>
            <a:pPr algn="l" marL="647698" indent="-323849" lvl="1">
              <a:lnSpc>
                <a:spcPts val="5459"/>
              </a:lnSpc>
              <a:buFont typeface="Arial"/>
              <a:buChar char="•"/>
            </a:pPr>
            <a:r>
              <a:rPr lang="en-US" sz="2999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CNN is designed for image recognition tasks.</a:t>
            </a:r>
          </a:p>
          <a:p>
            <a:pPr algn="l">
              <a:lnSpc>
                <a:spcPts val="5459"/>
              </a:lnSpc>
            </a:pPr>
            <a:r>
              <a:rPr lang="en-US" sz="2999" b="tru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Main layers include:</a:t>
            </a:r>
          </a:p>
          <a:p>
            <a:pPr algn="l" marL="647698" indent="-323849" lvl="1">
              <a:lnSpc>
                <a:spcPts val="5459"/>
              </a:lnSpc>
              <a:buFont typeface="Arial"/>
              <a:buChar char="•"/>
            </a:pPr>
            <a:r>
              <a:rPr lang="en-US" sz="2999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Convolution Layer</a:t>
            </a:r>
          </a:p>
          <a:p>
            <a:pPr algn="l" marL="647698" indent="-323849" lvl="1">
              <a:lnSpc>
                <a:spcPts val="5459"/>
              </a:lnSpc>
              <a:buFont typeface="Arial"/>
              <a:buChar char="•"/>
            </a:pPr>
            <a:r>
              <a:rPr lang="en-US" sz="2999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Activation Layer (ReLU)</a:t>
            </a:r>
          </a:p>
          <a:p>
            <a:pPr algn="l" marL="647698" indent="-323849" lvl="1">
              <a:lnSpc>
                <a:spcPts val="5459"/>
              </a:lnSpc>
              <a:buFont typeface="Arial"/>
              <a:buChar char="•"/>
            </a:pPr>
            <a:r>
              <a:rPr lang="en-US" sz="2999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Pooling Layer</a:t>
            </a:r>
          </a:p>
          <a:p>
            <a:pPr algn="l" marL="647698" indent="-323849" lvl="1">
              <a:lnSpc>
                <a:spcPts val="5459"/>
              </a:lnSpc>
              <a:buFont typeface="Arial"/>
              <a:buChar char="•"/>
            </a:pPr>
            <a:r>
              <a:rPr lang="en-US" sz="2999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Flatten Layer</a:t>
            </a:r>
          </a:p>
          <a:p>
            <a:pPr algn="l" marL="647698" indent="-323849" lvl="1">
              <a:lnSpc>
                <a:spcPts val="5459"/>
              </a:lnSpc>
              <a:buFont typeface="Arial"/>
              <a:buChar char="•"/>
            </a:pPr>
            <a:r>
              <a:rPr lang="en-US" sz="2999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Dense Layer</a:t>
            </a:r>
          </a:p>
          <a:p>
            <a:pPr algn="l" marL="647698" indent="-323849" lvl="1">
              <a:lnSpc>
                <a:spcPts val="5459"/>
              </a:lnSpc>
              <a:buFont typeface="Arial"/>
              <a:buChar char="•"/>
            </a:pPr>
            <a:r>
              <a:rPr lang="en-US" sz="2999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Output Layer (Softmax)</a:t>
            </a:r>
          </a:p>
          <a:p>
            <a:pPr algn="l">
              <a:lnSpc>
                <a:spcPts val="5459"/>
              </a:lnSpc>
            </a:pPr>
            <a:r>
              <a:rPr lang="en-US" sz="2999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CNN automatically extracts important features from images.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96412" y="3094083"/>
            <a:ext cx="547306" cy="547306"/>
          </a:xfrm>
          <a:custGeom>
            <a:avLst/>
            <a:gdLst/>
            <a:ahLst/>
            <a:cxnLst/>
            <a:rect r="r" b="b" t="t" l="l"/>
            <a:pathLst>
              <a:path h="547306" w="547306">
                <a:moveTo>
                  <a:pt x="0" y="0"/>
                </a:moveTo>
                <a:lnTo>
                  <a:pt x="547306" y="0"/>
                </a:lnTo>
                <a:lnTo>
                  <a:pt x="547306" y="547306"/>
                </a:lnTo>
                <a:lnTo>
                  <a:pt x="0" y="5473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979225" y="7785464"/>
            <a:ext cx="724785" cy="724785"/>
          </a:xfrm>
          <a:custGeom>
            <a:avLst/>
            <a:gdLst/>
            <a:ahLst/>
            <a:cxnLst/>
            <a:rect r="r" b="b" t="t" l="l"/>
            <a:pathLst>
              <a:path h="724785" w="724785">
                <a:moveTo>
                  <a:pt x="0" y="0"/>
                </a:moveTo>
                <a:lnTo>
                  <a:pt x="724786" y="0"/>
                </a:lnTo>
                <a:lnTo>
                  <a:pt x="724786" y="724786"/>
                </a:lnTo>
                <a:lnTo>
                  <a:pt x="0" y="724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43718" y="2432562"/>
            <a:ext cx="4895538" cy="7085647"/>
          </a:xfrm>
          <a:custGeom>
            <a:avLst/>
            <a:gdLst/>
            <a:ahLst/>
            <a:cxnLst/>
            <a:rect r="r" b="b" t="t" l="l"/>
            <a:pathLst>
              <a:path h="7085647" w="4895538">
                <a:moveTo>
                  <a:pt x="0" y="0"/>
                </a:moveTo>
                <a:lnTo>
                  <a:pt x="4895538" y="0"/>
                </a:lnTo>
                <a:lnTo>
                  <a:pt x="4895538" y="7085646"/>
                </a:lnTo>
                <a:lnTo>
                  <a:pt x="0" y="70856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56" r="0" b="-34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50212" y="-1750212"/>
            <a:ext cx="5557824" cy="55578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8796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13077" y="6363508"/>
            <a:ext cx="9485820" cy="948582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4B85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9782270"/>
            <a:ext cx="18288000" cy="1009460"/>
            <a:chOff x="0" y="0"/>
            <a:chExt cx="3762963" cy="2077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-504730"/>
            <a:ext cx="18288000" cy="1009460"/>
            <a:chOff x="0" y="0"/>
            <a:chExt cx="3762963" cy="2077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250764" y="723805"/>
            <a:ext cx="9766750" cy="93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40"/>
              </a:lnSpc>
            </a:pPr>
            <a:r>
              <a:rPr lang="en-US" b="true" sz="7600" spc="-608">
                <a:solidFill>
                  <a:srgbClr val="F8F3D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 Training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65574" y="1981200"/>
            <a:ext cx="8936984" cy="762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1"/>
              </a:lnSpc>
            </a:pPr>
            <a:r>
              <a:rPr lang="en-US" sz="3246" b="tru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DURING TRAINING:</a:t>
            </a:r>
          </a:p>
          <a:p>
            <a:pPr algn="l" marL="700888" indent="-350444" lvl="1">
              <a:lnSpc>
                <a:spcPts val="5031"/>
              </a:lnSpc>
              <a:buFont typeface="Arial"/>
              <a:buChar char="•"/>
            </a:pPr>
            <a:r>
              <a:rPr lang="en-US" sz="3246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Images are fed into the CNN model</a:t>
            </a:r>
          </a:p>
          <a:p>
            <a:pPr algn="l" marL="700888" indent="-350444" lvl="1">
              <a:lnSpc>
                <a:spcPts val="5031"/>
              </a:lnSpc>
              <a:buFont typeface="Arial"/>
              <a:buChar char="•"/>
            </a:pPr>
            <a:r>
              <a:rPr lang="en-US" sz="3246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Model learns patterns from butterfly images</a:t>
            </a:r>
          </a:p>
          <a:p>
            <a:pPr algn="l" marL="700888" indent="-350444" lvl="1">
              <a:lnSpc>
                <a:spcPts val="5031"/>
              </a:lnSpc>
              <a:buFont typeface="Arial"/>
              <a:buChar char="•"/>
            </a:pPr>
            <a:r>
              <a:rPr lang="en-US" sz="3246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Loss and accuracy are calculated</a:t>
            </a:r>
          </a:p>
          <a:p>
            <a:pPr algn="l">
              <a:lnSpc>
                <a:spcPts val="5031"/>
              </a:lnSpc>
            </a:pPr>
            <a:r>
              <a:rPr lang="en-US" sz="3246" b="tru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Training process includes:</a:t>
            </a:r>
          </a:p>
          <a:p>
            <a:pPr algn="l" marL="700888" indent="-350444" lvl="1">
              <a:lnSpc>
                <a:spcPts val="5031"/>
              </a:lnSpc>
              <a:buFont typeface="Arial"/>
              <a:buChar char="•"/>
            </a:pPr>
            <a:r>
              <a:rPr lang="en-US" sz="3246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Multiple epochs</a:t>
            </a:r>
          </a:p>
          <a:p>
            <a:pPr algn="l" marL="700888" indent="-350444" lvl="1">
              <a:lnSpc>
                <a:spcPts val="5031"/>
              </a:lnSpc>
              <a:buFont typeface="Arial"/>
              <a:buChar char="•"/>
            </a:pPr>
            <a:r>
              <a:rPr lang="en-US" sz="3246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Batch processing</a:t>
            </a:r>
          </a:p>
          <a:p>
            <a:pPr algn="l" marL="700888" indent="-350444" lvl="1">
              <a:lnSpc>
                <a:spcPts val="5031"/>
              </a:lnSpc>
              <a:buFont typeface="Arial"/>
              <a:buChar char="•"/>
            </a:pPr>
            <a:r>
              <a:rPr lang="en-US" sz="3246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Optimization using Adam optimizer</a:t>
            </a:r>
          </a:p>
          <a:p>
            <a:pPr algn="l">
              <a:lnSpc>
                <a:spcPts val="5031"/>
              </a:lnSpc>
            </a:pPr>
            <a:r>
              <a:rPr lang="en-US" sz="3246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The model gradually improves prediction accuracy.</a:t>
            </a:r>
          </a:p>
        </p:txBody>
      </p:sp>
      <p:sp>
        <p:nvSpPr>
          <p:cNvPr name="Freeform 17" id="17"/>
          <p:cNvSpPr/>
          <p:nvPr/>
        </p:nvSpPr>
        <p:spPr>
          <a:xfrm flipH="true" flipV="false" rot="0">
            <a:off x="-478334" y="1028700"/>
            <a:ext cx="7366732" cy="8229600"/>
          </a:xfrm>
          <a:custGeom>
            <a:avLst/>
            <a:gdLst/>
            <a:ahLst/>
            <a:cxnLst/>
            <a:rect r="r" b="b" t="t" l="l"/>
            <a:pathLst>
              <a:path h="8229600" w="7366732">
                <a:moveTo>
                  <a:pt x="7366733" y="0"/>
                </a:moveTo>
                <a:lnTo>
                  <a:pt x="0" y="0"/>
                </a:lnTo>
                <a:lnTo>
                  <a:pt x="0" y="8229600"/>
                </a:lnTo>
                <a:lnTo>
                  <a:pt x="7366733" y="8229600"/>
                </a:lnTo>
                <a:lnTo>
                  <a:pt x="736673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608831" y="2668714"/>
            <a:ext cx="573213" cy="573213"/>
          </a:xfrm>
          <a:custGeom>
            <a:avLst/>
            <a:gdLst/>
            <a:ahLst/>
            <a:cxnLst/>
            <a:rect r="r" b="b" t="t" l="l"/>
            <a:pathLst>
              <a:path h="573213" w="573213">
                <a:moveTo>
                  <a:pt x="0" y="0"/>
                </a:moveTo>
                <a:lnTo>
                  <a:pt x="573214" y="0"/>
                </a:lnTo>
                <a:lnTo>
                  <a:pt x="573214" y="573213"/>
                </a:lnTo>
                <a:lnTo>
                  <a:pt x="0" y="5732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686087" y="949074"/>
            <a:ext cx="1146426" cy="1146426"/>
          </a:xfrm>
          <a:custGeom>
            <a:avLst/>
            <a:gdLst/>
            <a:ahLst/>
            <a:cxnLst/>
            <a:rect r="r" b="b" t="t" l="l"/>
            <a:pathLst>
              <a:path h="1146426" w="1146426">
                <a:moveTo>
                  <a:pt x="0" y="0"/>
                </a:moveTo>
                <a:lnTo>
                  <a:pt x="1146426" y="0"/>
                </a:lnTo>
                <a:lnTo>
                  <a:pt x="1146426" y="1146426"/>
                </a:lnTo>
                <a:lnTo>
                  <a:pt x="0" y="11464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42093" y="1522287"/>
            <a:ext cx="439968" cy="439968"/>
          </a:xfrm>
          <a:custGeom>
            <a:avLst/>
            <a:gdLst/>
            <a:ahLst/>
            <a:cxnLst/>
            <a:rect r="r" b="b" t="t" l="l"/>
            <a:pathLst>
              <a:path h="439968" w="439968">
                <a:moveTo>
                  <a:pt x="0" y="0"/>
                </a:moveTo>
                <a:lnTo>
                  <a:pt x="439968" y="0"/>
                </a:lnTo>
                <a:lnTo>
                  <a:pt x="439968" y="439968"/>
                </a:lnTo>
                <a:lnTo>
                  <a:pt x="0" y="4399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56" r="0" b="-34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50212" y="-1750212"/>
            <a:ext cx="5557824" cy="55578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8796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880036" y="6561870"/>
            <a:ext cx="9485820" cy="948582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4B85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9782270"/>
            <a:ext cx="18288000" cy="1009460"/>
            <a:chOff x="0" y="0"/>
            <a:chExt cx="3762963" cy="2077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-504730"/>
            <a:ext cx="18288000" cy="1009460"/>
            <a:chOff x="0" y="0"/>
            <a:chExt cx="3762963" cy="2077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1123950"/>
            <a:ext cx="5807884" cy="2669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62"/>
              </a:lnSpc>
            </a:pPr>
            <a:r>
              <a:rPr lang="en-US" b="true" sz="6695" spc="-535">
                <a:solidFill>
                  <a:srgbClr val="F8F3D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Results &amp; Model Performance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65318" y="800100"/>
            <a:ext cx="8504726" cy="8619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7"/>
              </a:lnSpc>
            </a:pPr>
            <a:r>
              <a:rPr lang="en-US" sz="3246" b="tru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AFTER TRAINING THE MODEL:</a:t>
            </a:r>
          </a:p>
          <a:p>
            <a:pPr algn="l" marL="700888" indent="-350444" lvl="1">
              <a:lnSpc>
                <a:spcPts val="6297"/>
              </a:lnSpc>
              <a:buFont typeface="Arial"/>
              <a:buChar char="•"/>
            </a:pPr>
            <a:r>
              <a:rPr lang="en-US" sz="3246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The model successfully classifies butterfly species</a:t>
            </a:r>
          </a:p>
          <a:p>
            <a:pPr algn="l" marL="700888" indent="-350444" lvl="1">
              <a:lnSpc>
                <a:spcPts val="6297"/>
              </a:lnSpc>
              <a:buFont typeface="Arial"/>
              <a:buChar char="•"/>
            </a:pPr>
            <a:r>
              <a:rPr lang="en-US" sz="3246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Accuracy improves with training epochs</a:t>
            </a:r>
          </a:p>
          <a:p>
            <a:pPr algn="l" marL="700888" indent="-350444" lvl="1">
              <a:lnSpc>
                <a:spcPts val="6297"/>
              </a:lnSpc>
              <a:buFont typeface="Arial"/>
              <a:buChar char="•"/>
            </a:pPr>
            <a:r>
              <a:rPr lang="en-US" sz="3246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Graphs show training accuracy and loss</a:t>
            </a:r>
          </a:p>
          <a:p>
            <a:pPr algn="l">
              <a:lnSpc>
                <a:spcPts val="6297"/>
              </a:lnSpc>
            </a:pPr>
            <a:r>
              <a:rPr lang="en-US" sz="3246" b="tru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Performance metrics include:</a:t>
            </a:r>
          </a:p>
          <a:p>
            <a:pPr algn="l" marL="700888" indent="-350444" lvl="1">
              <a:lnSpc>
                <a:spcPts val="6297"/>
              </a:lnSpc>
              <a:buFont typeface="Arial"/>
              <a:buChar char="•"/>
            </a:pPr>
            <a:r>
              <a:rPr lang="en-US" sz="3246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Accuracy</a:t>
            </a:r>
          </a:p>
          <a:p>
            <a:pPr algn="l" marL="700888" indent="-350444" lvl="1">
              <a:lnSpc>
                <a:spcPts val="6297"/>
              </a:lnSpc>
              <a:buFont typeface="Arial"/>
              <a:buChar char="•"/>
            </a:pPr>
            <a:r>
              <a:rPr lang="en-US" sz="3246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Loss value</a:t>
            </a:r>
          </a:p>
          <a:p>
            <a:pPr algn="l" marL="700888" indent="-350444" lvl="1">
              <a:lnSpc>
                <a:spcPts val="6297"/>
              </a:lnSpc>
              <a:buFont typeface="Arial"/>
              <a:buChar char="•"/>
            </a:pPr>
            <a:r>
              <a:rPr lang="en-US" sz="3246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Prediction results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992743" y="2144615"/>
            <a:ext cx="843841" cy="843841"/>
          </a:xfrm>
          <a:custGeom>
            <a:avLst/>
            <a:gdLst/>
            <a:ahLst/>
            <a:cxnLst/>
            <a:rect r="r" b="b" t="t" l="l"/>
            <a:pathLst>
              <a:path h="843841" w="843841">
                <a:moveTo>
                  <a:pt x="0" y="0"/>
                </a:moveTo>
                <a:lnTo>
                  <a:pt x="843841" y="0"/>
                </a:lnTo>
                <a:lnTo>
                  <a:pt x="843841" y="843841"/>
                </a:lnTo>
                <a:lnTo>
                  <a:pt x="0" y="8438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12539" y="876300"/>
            <a:ext cx="444711" cy="444711"/>
          </a:xfrm>
          <a:custGeom>
            <a:avLst/>
            <a:gdLst/>
            <a:ahLst/>
            <a:cxnLst/>
            <a:rect r="r" b="b" t="t" l="l"/>
            <a:pathLst>
              <a:path h="444711" w="444711">
                <a:moveTo>
                  <a:pt x="0" y="0"/>
                </a:moveTo>
                <a:lnTo>
                  <a:pt x="444711" y="0"/>
                </a:lnTo>
                <a:lnTo>
                  <a:pt x="444711" y="444711"/>
                </a:lnTo>
                <a:lnTo>
                  <a:pt x="0" y="4447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31340" y="4076701"/>
            <a:ext cx="6705244" cy="7589157"/>
          </a:xfrm>
          <a:custGeom>
            <a:avLst/>
            <a:gdLst/>
            <a:ahLst/>
            <a:cxnLst/>
            <a:rect r="r" b="b" t="t" l="l"/>
            <a:pathLst>
              <a:path h="7589157" w="6705244">
                <a:moveTo>
                  <a:pt x="6705244" y="0"/>
                </a:moveTo>
                <a:lnTo>
                  <a:pt x="0" y="0"/>
                </a:lnTo>
                <a:lnTo>
                  <a:pt x="0" y="7589157"/>
                </a:lnTo>
                <a:lnTo>
                  <a:pt x="6705244" y="7589157"/>
                </a:lnTo>
                <a:lnTo>
                  <a:pt x="670524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56" r="0" b="-34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08847" y="-1686841"/>
            <a:ext cx="5557824" cy="55578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8796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551241" y="5544090"/>
            <a:ext cx="9485820" cy="948582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4B85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9782270"/>
            <a:ext cx="18288000" cy="1009460"/>
            <a:chOff x="0" y="0"/>
            <a:chExt cx="3762963" cy="2077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-504730"/>
            <a:ext cx="18288000" cy="1009460"/>
            <a:chOff x="0" y="0"/>
            <a:chExt cx="3762963" cy="2077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737615" y="1292340"/>
            <a:ext cx="444711" cy="444711"/>
          </a:xfrm>
          <a:custGeom>
            <a:avLst/>
            <a:gdLst/>
            <a:ahLst/>
            <a:cxnLst/>
            <a:rect r="r" b="b" t="t" l="l"/>
            <a:pathLst>
              <a:path h="444711" w="444711">
                <a:moveTo>
                  <a:pt x="0" y="0"/>
                </a:moveTo>
                <a:lnTo>
                  <a:pt x="444711" y="0"/>
                </a:lnTo>
                <a:lnTo>
                  <a:pt x="444711" y="444711"/>
                </a:lnTo>
                <a:lnTo>
                  <a:pt x="0" y="4447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985647" y="3870983"/>
            <a:ext cx="547306" cy="547306"/>
          </a:xfrm>
          <a:custGeom>
            <a:avLst/>
            <a:gdLst/>
            <a:ahLst/>
            <a:cxnLst/>
            <a:rect r="r" b="b" t="t" l="l"/>
            <a:pathLst>
              <a:path h="547306" w="547306">
                <a:moveTo>
                  <a:pt x="0" y="0"/>
                </a:moveTo>
                <a:lnTo>
                  <a:pt x="547306" y="0"/>
                </a:lnTo>
                <a:lnTo>
                  <a:pt x="547306" y="547306"/>
                </a:lnTo>
                <a:lnTo>
                  <a:pt x="0" y="5473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181783" y="1522202"/>
            <a:ext cx="6077517" cy="7736098"/>
          </a:xfrm>
          <a:custGeom>
            <a:avLst/>
            <a:gdLst/>
            <a:ahLst/>
            <a:cxnLst/>
            <a:rect r="r" b="b" t="t" l="l"/>
            <a:pathLst>
              <a:path h="7736098" w="6077517">
                <a:moveTo>
                  <a:pt x="0" y="0"/>
                </a:moveTo>
                <a:lnTo>
                  <a:pt x="6077517" y="0"/>
                </a:lnTo>
                <a:lnTo>
                  <a:pt x="6077517" y="7736098"/>
                </a:lnTo>
                <a:lnTo>
                  <a:pt x="0" y="7736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70065" y="1092625"/>
            <a:ext cx="8744569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19"/>
              </a:lnSpc>
            </a:pPr>
            <a:r>
              <a:rPr lang="en-US" b="true" sz="8799" spc="-703">
                <a:solidFill>
                  <a:srgbClr val="F8F3D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Demo / Output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2735" y="2356198"/>
            <a:ext cx="9345321" cy="8435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3" indent="-431796" lvl="1">
              <a:lnSpc>
                <a:spcPts val="6679"/>
              </a:lnSpc>
              <a:buFont typeface="Arial"/>
              <a:buChar char="•"/>
            </a:pPr>
            <a:r>
              <a:rPr lang="en-US" sz="3999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The system p</a:t>
            </a:r>
            <a:r>
              <a:rPr lang="en-US" sz="3999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redicts butterfly species from input images.</a:t>
            </a:r>
          </a:p>
          <a:p>
            <a:pPr algn="l">
              <a:lnSpc>
                <a:spcPts val="6679"/>
              </a:lnSpc>
            </a:pPr>
            <a:r>
              <a:rPr lang="en-US" sz="3999" b="tru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Example output</a:t>
            </a:r>
            <a:r>
              <a:rPr lang="en-US" sz="3999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:</a:t>
            </a:r>
          </a:p>
          <a:p>
            <a:pPr algn="l" marL="863593" indent="-431796" lvl="1">
              <a:lnSpc>
                <a:spcPts val="6679"/>
              </a:lnSpc>
              <a:buFont typeface="Arial"/>
              <a:buChar char="•"/>
            </a:pPr>
            <a:r>
              <a:rPr lang="en-US" sz="3999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 Input → Butterfly Image</a:t>
            </a:r>
          </a:p>
          <a:p>
            <a:pPr algn="l" marL="863593" indent="-431796" lvl="1">
              <a:lnSpc>
                <a:spcPts val="6679"/>
              </a:lnSpc>
              <a:buFont typeface="Arial"/>
              <a:buChar char="•"/>
            </a:pPr>
            <a:r>
              <a:rPr lang="en-US" sz="3999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Output → Predicted Butterfly Species</a:t>
            </a:r>
          </a:p>
          <a:p>
            <a:pPr algn="l">
              <a:lnSpc>
                <a:spcPts val="6679"/>
              </a:lnSpc>
            </a:pPr>
            <a:r>
              <a:rPr lang="en-US" sz="3999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https://colab.research.google.com/drive/1VFuDnfX3iXLKNmZ8wcBhXS1I4vxXc9CX</a:t>
            </a:r>
          </a:p>
          <a:p>
            <a:pPr algn="just">
              <a:lnSpc>
                <a:spcPts val="6846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56" r="0" b="-34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89033" y="-969805"/>
            <a:ext cx="5557824" cy="55578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8796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645247" y="6952574"/>
            <a:ext cx="9485820" cy="948582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4B85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9782270"/>
            <a:ext cx="18288000" cy="1009460"/>
            <a:chOff x="0" y="0"/>
            <a:chExt cx="3762963" cy="2077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-504730"/>
            <a:ext cx="18288000" cy="1009460"/>
            <a:chOff x="0" y="0"/>
            <a:chExt cx="3762963" cy="2077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64546" y="936615"/>
            <a:ext cx="9931931" cy="1973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70"/>
              </a:lnSpc>
            </a:pPr>
            <a:r>
              <a:rPr lang="en-US" b="true" sz="8300" spc="-664">
                <a:solidFill>
                  <a:srgbClr val="F8F3D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 &amp; Future     Scope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2604" y="2990324"/>
            <a:ext cx="9723873" cy="7294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1"/>
              </a:lnSpc>
            </a:pPr>
            <a:r>
              <a:rPr lang="en-US" sz="3429" b="true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Conclu</a:t>
            </a:r>
            <a:r>
              <a:rPr lang="en-US" b="true" sz="3429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sion</a:t>
            </a:r>
          </a:p>
          <a:p>
            <a:pPr algn="just" marL="740441" indent="-370220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Butterfly classification can be automated using deep learning.</a:t>
            </a:r>
          </a:p>
          <a:p>
            <a:pPr algn="just" marL="740441" indent="-370220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CNN effectively extracts image features.</a:t>
            </a:r>
          </a:p>
          <a:p>
            <a:pPr algn="just" marL="740441" indent="-370220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The model can classify butterfly species with good accuracy.</a:t>
            </a:r>
          </a:p>
          <a:p>
            <a:pPr algn="just">
              <a:lnSpc>
                <a:spcPts val="4801"/>
              </a:lnSpc>
            </a:pPr>
            <a:r>
              <a:rPr lang="en-US" b="true" sz="3429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Future Improvements</a:t>
            </a:r>
          </a:p>
          <a:p>
            <a:pPr algn="just" marL="740441" indent="-370220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Use larger datasets</a:t>
            </a:r>
          </a:p>
          <a:p>
            <a:pPr algn="just" marL="740441" indent="-370220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Apply advanced models like ResNet or MobileNet</a:t>
            </a:r>
          </a:p>
          <a:p>
            <a:pPr algn="just" marL="740441" indent="-370220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Deploy as a mobile or web application</a:t>
            </a:r>
          </a:p>
          <a:p>
            <a:pPr algn="just">
              <a:lnSpc>
                <a:spcPts val="4801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092448" y="836655"/>
            <a:ext cx="7974960" cy="8421645"/>
          </a:xfrm>
          <a:custGeom>
            <a:avLst/>
            <a:gdLst/>
            <a:ahLst/>
            <a:cxnLst/>
            <a:rect r="r" b="b" t="t" l="l"/>
            <a:pathLst>
              <a:path h="8421645" w="7974960">
                <a:moveTo>
                  <a:pt x="0" y="0"/>
                </a:moveTo>
                <a:lnTo>
                  <a:pt x="7974960" y="0"/>
                </a:lnTo>
                <a:lnTo>
                  <a:pt x="7974960" y="8421645"/>
                </a:lnTo>
                <a:lnTo>
                  <a:pt x="0" y="842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752573" y="2834643"/>
            <a:ext cx="444711" cy="444711"/>
          </a:xfrm>
          <a:custGeom>
            <a:avLst/>
            <a:gdLst/>
            <a:ahLst/>
            <a:cxnLst/>
            <a:rect r="r" b="b" t="t" l="l"/>
            <a:pathLst>
              <a:path h="444711" w="444711">
                <a:moveTo>
                  <a:pt x="0" y="0"/>
                </a:moveTo>
                <a:lnTo>
                  <a:pt x="444710" y="0"/>
                </a:lnTo>
                <a:lnTo>
                  <a:pt x="444710" y="444711"/>
                </a:lnTo>
                <a:lnTo>
                  <a:pt x="0" y="4447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985647" y="6952574"/>
            <a:ext cx="547306" cy="547306"/>
          </a:xfrm>
          <a:custGeom>
            <a:avLst/>
            <a:gdLst/>
            <a:ahLst/>
            <a:cxnLst/>
            <a:rect r="r" b="b" t="t" l="l"/>
            <a:pathLst>
              <a:path h="547306" w="547306">
                <a:moveTo>
                  <a:pt x="0" y="0"/>
                </a:moveTo>
                <a:lnTo>
                  <a:pt x="547306" y="0"/>
                </a:lnTo>
                <a:lnTo>
                  <a:pt x="547306" y="547306"/>
                </a:lnTo>
                <a:lnTo>
                  <a:pt x="0" y="547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56" r="0" b="-34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08847" y="-1686841"/>
            <a:ext cx="5557824" cy="55578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8796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551241" y="5544090"/>
            <a:ext cx="9485820" cy="948582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4B85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9782270"/>
            <a:ext cx="18288000" cy="1009460"/>
            <a:chOff x="0" y="0"/>
            <a:chExt cx="3762963" cy="2077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-504730"/>
            <a:ext cx="18288000" cy="1009460"/>
            <a:chOff x="0" y="0"/>
            <a:chExt cx="3762963" cy="2077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62963" cy="207708"/>
            </a:xfrm>
            <a:custGeom>
              <a:avLst/>
              <a:gdLst/>
              <a:ahLst/>
              <a:cxnLst/>
              <a:rect r="r" b="b" t="t" l="l"/>
              <a:pathLst>
                <a:path h="207708" w="3762963">
                  <a:moveTo>
                    <a:pt x="8268" y="0"/>
                  </a:moveTo>
                  <a:lnTo>
                    <a:pt x="3754695" y="0"/>
                  </a:lnTo>
                  <a:cubicBezTo>
                    <a:pt x="3756888" y="0"/>
                    <a:pt x="3758991" y="871"/>
                    <a:pt x="3760541" y="2422"/>
                  </a:cubicBezTo>
                  <a:cubicBezTo>
                    <a:pt x="3762092" y="3972"/>
                    <a:pt x="3762963" y="6075"/>
                    <a:pt x="3762963" y="8268"/>
                  </a:cubicBezTo>
                  <a:lnTo>
                    <a:pt x="3762963" y="199440"/>
                  </a:lnTo>
                  <a:cubicBezTo>
                    <a:pt x="3762963" y="204006"/>
                    <a:pt x="3759261" y="207708"/>
                    <a:pt x="3754695" y="207708"/>
                  </a:cubicBezTo>
                  <a:lnTo>
                    <a:pt x="8268" y="207708"/>
                  </a:lnTo>
                  <a:cubicBezTo>
                    <a:pt x="3702" y="207708"/>
                    <a:pt x="0" y="204006"/>
                    <a:pt x="0" y="199440"/>
                  </a:cubicBezTo>
                  <a:lnTo>
                    <a:pt x="0" y="8268"/>
                  </a:lnTo>
                  <a:cubicBezTo>
                    <a:pt x="0" y="3702"/>
                    <a:pt x="3702" y="0"/>
                    <a:pt x="8268" y="0"/>
                  </a:cubicBezTo>
                  <a:close/>
                </a:path>
              </a:pathLst>
            </a:custGeom>
            <a:solidFill>
              <a:srgbClr val="024B8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762963" cy="21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737615" y="1292340"/>
            <a:ext cx="444711" cy="444711"/>
          </a:xfrm>
          <a:custGeom>
            <a:avLst/>
            <a:gdLst/>
            <a:ahLst/>
            <a:cxnLst/>
            <a:rect r="r" b="b" t="t" l="l"/>
            <a:pathLst>
              <a:path h="444711" w="444711">
                <a:moveTo>
                  <a:pt x="0" y="0"/>
                </a:moveTo>
                <a:lnTo>
                  <a:pt x="444711" y="0"/>
                </a:lnTo>
                <a:lnTo>
                  <a:pt x="444711" y="444711"/>
                </a:lnTo>
                <a:lnTo>
                  <a:pt x="0" y="4447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985647" y="3870983"/>
            <a:ext cx="547306" cy="547306"/>
          </a:xfrm>
          <a:custGeom>
            <a:avLst/>
            <a:gdLst/>
            <a:ahLst/>
            <a:cxnLst/>
            <a:rect r="r" b="b" t="t" l="l"/>
            <a:pathLst>
              <a:path h="547306" w="547306">
                <a:moveTo>
                  <a:pt x="0" y="0"/>
                </a:moveTo>
                <a:lnTo>
                  <a:pt x="547306" y="0"/>
                </a:lnTo>
                <a:lnTo>
                  <a:pt x="547306" y="547306"/>
                </a:lnTo>
                <a:lnTo>
                  <a:pt x="0" y="5473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36736" y="881106"/>
            <a:ext cx="5523524" cy="6527059"/>
          </a:xfrm>
          <a:custGeom>
            <a:avLst/>
            <a:gdLst/>
            <a:ahLst/>
            <a:cxnLst/>
            <a:rect r="r" b="b" t="t" l="l"/>
            <a:pathLst>
              <a:path h="6527059" w="5523524">
                <a:moveTo>
                  <a:pt x="0" y="0"/>
                </a:moveTo>
                <a:lnTo>
                  <a:pt x="5523524" y="0"/>
                </a:lnTo>
                <a:lnTo>
                  <a:pt x="5523524" y="6527060"/>
                </a:lnTo>
                <a:lnTo>
                  <a:pt x="0" y="65270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493280" y="6731891"/>
            <a:ext cx="8744569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59"/>
              </a:lnSpc>
            </a:pPr>
            <a:r>
              <a:rPr lang="en-US" b="true" sz="8799" spc="114">
                <a:solidFill>
                  <a:srgbClr val="F8F3D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you.....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857179" y="2789682"/>
            <a:ext cx="7430821" cy="6250586"/>
          </a:xfrm>
          <a:custGeom>
            <a:avLst/>
            <a:gdLst/>
            <a:ahLst/>
            <a:cxnLst/>
            <a:rect r="r" b="b" t="t" l="l"/>
            <a:pathLst>
              <a:path h="6250586" w="7430821">
                <a:moveTo>
                  <a:pt x="0" y="0"/>
                </a:moveTo>
                <a:lnTo>
                  <a:pt x="7430821" y="0"/>
                </a:lnTo>
                <a:lnTo>
                  <a:pt x="7430821" y="6250587"/>
                </a:lnTo>
                <a:lnTo>
                  <a:pt x="0" y="62505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DAHDjz5JaEo</dc:identifier>
  <dcterms:modified xsi:type="dcterms:W3CDTF">2011-08-01T06:04:30Z</dcterms:modified>
  <cp:revision>1</cp:revision>
  <dc:title>Artificial Intelligence</dc:title>
</cp:coreProperties>
</file>